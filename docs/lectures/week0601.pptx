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61" r:id="rId4"/>
    <p:sldId id="258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303" r:id="rId27"/>
    <p:sldId id="284" r:id="rId28"/>
    <p:sldId id="285" r:id="rId29"/>
    <p:sldId id="286" r:id="rId30"/>
    <p:sldId id="299" r:id="rId31"/>
    <p:sldId id="297" r:id="rId32"/>
    <p:sldId id="257" r:id="rId33"/>
    <p:sldId id="298" r:id="rId34"/>
    <p:sldId id="301" r:id="rId35"/>
    <p:sldId id="300" r:id="rId36"/>
    <p:sldId id="259" r:id="rId37"/>
    <p:sldId id="287" r:id="rId38"/>
    <p:sldId id="288" r:id="rId39"/>
    <p:sldId id="289" r:id="rId40"/>
    <p:sldId id="290" r:id="rId41"/>
    <p:sldId id="291" r:id="rId42"/>
    <p:sldId id="293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75"/>
  </p:normalViewPr>
  <p:slideViewPr>
    <p:cSldViewPr snapToGrid="0" snapToObjects="1">
      <p:cViewPr>
        <p:scale>
          <a:sx n="104" d="100"/>
          <a:sy n="104" d="100"/>
        </p:scale>
        <p:origin x="928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10412"/>
            <a:ext cx="11518153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345C"/>
                </a:solidFill>
              </a:defRPr>
            </a:pPr>
            <a:r>
              <a:rPr lang="en-US" dirty="0"/>
              <a:t>Fundamental Research Design: </a:t>
            </a:r>
          </a:p>
          <a:p>
            <a:pPr>
              <a:defRPr sz="3800" b="1">
                <a:solidFill>
                  <a:srgbClr val="14345C"/>
                </a:solidFill>
              </a:defRPr>
            </a:pPr>
            <a:r>
              <a:rPr dirty="0"/>
              <a:t>Research Questions, Hypotheses, Variables, </a:t>
            </a:r>
            <a:r>
              <a:t>and Surveys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04672" y="3886200"/>
            <a:ext cx="6035040" cy="694944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06FCD"/>
                </a:solidFill>
              </a:defRPr>
            </a:pPr>
            <a:r>
              <a:rPr dirty="0"/>
              <a:t>BLOCK 2 • DAY 1 • STARTING FROM THE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55BDDD-ECE5-01B4-29ED-D20CE3D91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6" y="600064"/>
            <a:ext cx="10568692" cy="5892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903D30-3E66-5E1E-5689-68F6122C2781}"/>
              </a:ext>
            </a:extLst>
          </p:cNvPr>
          <p:cNvSpPr/>
          <p:nvPr/>
        </p:nvSpPr>
        <p:spPr>
          <a:xfrm>
            <a:off x="735979" y="1405053"/>
            <a:ext cx="2274849" cy="4282068"/>
          </a:xfrm>
          <a:prstGeom prst="rect">
            <a:avLst/>
          </a:prstGeom>
          <a:solidFill>
            <a:srgbClr val="00B0F0">
              <a:alpha val="1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What is a research question?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8378960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A research question states exactly what the study wants to find out.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It should be </a:t>
            </a:r>
            <a:r>
              <a:rPr sz="2000" b="1" u="sng" dirty="0"/>
              <a:t>specific enough </a:t>
            </a:r>
            <a:r>
              <a:rPr sz="2000" dirty="0"/>
              <a:t>that you can imagine collecting evidence for it.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It usually tells us </a:t>
            </a:r>
            <a:r>
              <a:rPr sz="2000" b="1" u="sng" dirty="0"/>
              <a:t>WHO or WHAT </a:t>
            </a:r>
            <a:r>
              <a:rPr sz="2000" dirty="0"/>
              <a:t>we care about.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It often identifies something we want to describe, compare, or connect.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698843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/>
              <a:t>A good research question is answerable with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559858"/>
            <a:ext cx="5577840" cy="251460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345C"/>
                </a:solidFill>
              </a:defRPr>
            </a:pPr>
            <a:r>
              <a:t>A skincare brand paid for this post.</a:t>
            </a:r>
            <a:br/>
            <a:r>
              <a:t>What might the brand want to KNOW?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1162" y="4416014"/>
            <a:ext cx="53940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232B35"/>
                </a:solidFill>
              </a:defRPr>
            </a:pPr>
            <a:r>
              <a:rPr lang="en-US" sz="2000" dirty="0"/>
              <a:t>Think → pair → share</a:t>
            </a:r>
            <a:br>
              <a:rPr sz="2000" dirty="0"/>
            </a:br>
            <a:r>
              <a:rPr sz="2000" dirty="0"/>
              <a:t>What would you want to know? What evidence could answer it?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B25B6A-8C5E-5D8F-96C7-5688CB8C0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440575"/>
            <a:ext cx="2941320" cy="61613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A topic is not yet a research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dirty="0"/>
              <a:t>Topic: Influencer marketing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dirty="0"/>
              <a:t>RQ: Does seeing an #Ad disclosure change how credible an influencer seems?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258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Topic: Sports journalism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t>RQ: Do fans perceive athlete-written posts as more authentic than team-written posts?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289804" cy="1417320"/>
          </a:xfrm>
          <a:prstGeom prst="roundRect">
            <a:avLst/>
          </a:prstGeom>
          <a:solidFill>
            <a:srgbClr val="ECF8F1"/>
          </a:solidFill>
          <a:ln>
            <a:solidFill>
              <a:srgbClr val="28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Topic: Crisis PR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t>RQ: Is a CEO video apology associated with greater company trust than a written apology?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926080"/>
            <a:ext cx="5289804" cy="1417320"/>
          </a:xfrm>
          <a:prstGeom prst="roundRect">
            <a:avLst/>
          </a:prstGeom>
          <a:solidFill>
            <a:srgbClr val="FFF7DE"/>
          </a:solidFill>
          <a:ln>
            <a:solidFill>
              <a:srgbClr val="D2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Topic: Advertising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t>RQ: How does humor in a social-media ad relate to purchase intention?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Quick check: topic or research question?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35024"/>
            <a:ext cx="10698480" cy="914400"/>
          </a:xfrm>
          <a:prstGeom prst="roundRect">
            <a:avLst/>
          </a:prstGeom>
          <a:solidFill>
            <a:srgbClr val="FFF7DE"/>
          </a:solidFill>
          <a:ln>
            <a:solidFill>
              <a:srgbClr val="DCA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45C"/>
                </a:solidFill>
              </a:defRPr>
            </a:pPr>
            <a:r>
              <a:t>Call out TOPIC or RESEARCH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14600"/>
            <a:ext cx="7872540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1. Instagram influencers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2. Does influencer expertise relate to followers’ trust in a sponsored post?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3. Sports media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4. How often do college sports fans get game updates from social media?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5. Crisis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Three beginner-friendly kinds of 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41192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DESCRIBE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How often do college students use TikTok for news?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024" y="1325880"/>
            <a:ext cx="3441192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RELATE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Is TikTok news use related to perceived news credibility?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7" y="1325880"/>
            <a:ext cx="3441192" cy="1417320"/>
          </a:xfrm>
          <a:prstGeom prst="roundRect">
            <a:avLst/>
          </a:prstGeom>
          <a:solidFill>
            <a:srgbClr val="ECF8F1"/>
          </a:solidFill>
          <a:ln>
            <a:solidFill>
              <a:srgbClr val="28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COMPARE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Do people rate video apologies as more sincere than text apologies?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What is a hypothesis?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1320150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A hypothesis is </a:t>
            </a:r>
            <a:r>
              <a:rPr sz="2000" b="1" dirty="0"/>
              <a:t>a specific prediction </a:t>
            </a:r>
            <a:r>
              <a:rPr sz="2000" dirty="0"/>
              <a:t>about </a:t>
            </a:r>
            <a:r>
              <a:rPr sz="2000" b="1" dirty="0"/>
              <a:t>what you expect to find.</a:t>
            </a:r>
            <a:endParaRPr lang="en-US" sz="20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It usually predicts a relationship or a difference.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It should be testable with the data you plan to collect.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b="1" u="sng" dirty="0"/>
              <a:t>A hypothesis comes from prior research, theory, or a reasoned expectation—not just a random guess.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727" y="3607404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 dirty="0"/>
              <a:t>Research question = asks. Hypothesis = predicts.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Same study: research question vs. hypothesis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RQ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Do people rate influencer posts with #Ad as less authentic than posts without #Ad?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258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H1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People who see the #Ad version will report lower authenticity than people who see the no-#Ad 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289804" cy="1417320"/>
          </a:xfrm>
          <a:prstGeom prst="roundRect">
            <a:avLst/>
          </a:prstGeom>
          <a:solidFill>
            <a:srgbClr val="ECF8F1"/>
          </a:solidFill>
          <a:ln>
            <a:solidFill>
              <a:srgbClr val="28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RQ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Is social-media sports use related to fan engagement?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926080"/>
            <a:ext cx="5289804" cy="1417320"/>
          </a:xfrm>
          <a:prstGeom prst="roundRect">
            <a:avLst/>
          </a:prstGeom>
          <a:solidFill>
            <a:srgbClr val="FFF7DE"/>
          </a:solidFill>
          <a:ln>
            <a:solidFill>
              <a:srgbClr val="D2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H1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More frequent social-media sports use will be associated with higher fan engagement.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Research Question vs. Hypothesis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788691"/>
              </p:ext>
            </p:extLst>
          </p:nvPr>
        </p:nvGraphicFramePr>
        <p:xfrm>
          <a:off x="594360" y="1371600"/>
          <a:ext cx="109728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endParaRPr sz="2000" dirty="0"/>
                    </a:p>
                  </a:txBody>
                  <a:tcPr>
                    <a:solidFill>
                      <a:srgbClr val="1434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Research Question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Hypothesis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Purpose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Asks what we want to know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Predicts what we expect to find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Form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Usually a question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Usually a statement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Direction?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May be open-ended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Often predicts direction/difference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Example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Does message tone relate to trust?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A warmer tone will be associated with greater trust.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Always needed?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Yes: every study needs a clear 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No: not every study needs a hypothesis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When should I use an RQ? When should I use a hypothesis?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5232"/>
            <a:ext cx="1129855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Use an RQ when you are asking what happens, how often, whether things are related, or whether groups differ.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Use a hypothesis when you have a reasonable basis to predict the direction of the result.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Descriptive studies often use RQs without hypotheses.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Exploratory studies may use RQs because the expected pattern is not yet clear.</a:t>
            </a:r>
          </a:p>
          <a:p>
            <a:pPr>
              <a:spcAft>
                <a:spcPts val="1200"/>
              </a:spcAft>
              <a:defRPr sz="1900">
                <a:solidFill>
                  <a:srgbClr val="232B35"/>
                </a:solidFill>
              </a:defRPr>
            </a:pPr>
            <a:r>
              <a:rPr sz="2000" b="1" dirty="0"/>
              <a:t>A study can have BOTH: an RQ states the question; a hypothesis states the predicted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14449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 dirty="0"/>
              <a:t>Do not invent a hypothesis just because you think every paper needs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RQ or hypothesis?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35024"/>
            <a:ext cx="10698480" cy="914400"/>
          </a:xfrm>
          <a:prstGeom prst="roundRect">
            <a:avLst/>
          </a:prstGeom>
          <a:solidFill>
            <a:srgbClr val="FFF7DE"/>
          </a:solidFill>
          <a:ln>
            <a:solidFill>
              <a:srgbClr val="DCA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45C"/>
                </a:solidFill>
              </a:defRPr>
            </a:pPr>
            <a:r>
              <a:t>For each statement, decide: RQ or HYPOTHESIS?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14600"/>
            <a:ext cx="9255226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1. Does an AI-generated label affect perceived ad credibility?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2. Ads labeled AI-generated will receive lower credibility ratings than unlabeled ads.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3. How often do students follow sports journalists on social media?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4. Fans who follow more sports journalists will report greater knowledge of team news.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dirty="0"/>
              <a:t>What makes RQs and hypotheses researchable?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958977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Look at: </a:t>
            </a:r>
            <a:r>
              <a:rPr lang="en-US" sz="2000" b="1" dirty="0"/>
              <a:t>“Is seeing an #Ad label related to how authentic an influencer seems?”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Two things can differ:</a:t>
            </a:r>
          </a:p>
          <a:p>
            <a:pPr marL="868363" indent="-317500">
              <a:buFont typeface="Courier New" panose="02070309020205020404" pitchFamily="49" charset="0"/>
              <a:buChar char="o"/>
            </a:pPr>
            <a:r>
              <a:rPr lang="en-US" sz="2000" dirty="0"/>
              <a:t>#Ad disclosure: #Ad label present. #Ad label not present </a:t>
            </a:r>
          </a:p>
          <a:p>
            <a:pPr marL="868363" indent="-317500">
              <a:buFont typeface="Courier New" panose="02070309020205020404" pitchFamily="49" charset="0"/>
              <a:buChar char="o"/>
            </a:pPr>
            <a:r>
              <a:rPr lang="en-US" sz="2000" dirty="0"/>
              <a:t>Perceived authenticity: People may perceive the influencer as more or less authentic. We could measure this with an authenticity rating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These changing characteristics are called </a:t>
            </a:r>
            <a:r>
              <a:rPr lang="en-US" sz="2000" b="1" dirty="0"/>
              <a:t>variables</a:t>
            </a:r>
            <a:r>
              <a:rPr lang="en-US" sz="2000" dirty="0"/>
              <a:t>.</a:t>
            </a:r>
          </a:p>
          <a:p>
            <a:pPr marL="927100" indent="-285750">
              <a:buFont typeface="Courier New" panose="02070309020205020404" pitchFamily="49" charset="0"/>
              <a:buChar char="o"/>
            </a:pPr>
            <a:r>
              <a:rPr lang="en-US" sz="2000" dirty="0"/>
              <a:t>Variable 1: #Ad disclosure</a:t>
            </a:r>
          </a:p>
          <a:p>
            <a:pPr marL="927100" indent="-285750">
              <a:buFont typeface="Courier New" panose="02070309020205020404" pitchFamily="49" charset="0"/>
              <a:buChar char="o"/>
            </a:pPr>
            <a:r>
              <a:rPr lang="en-US" sz="2000" dirty="0"/>
              <a:t>Variable 2: Perceived authenticity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Variables are the building blocks that turn a research question into something we can measure and study.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073485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 dirty="0"/>
              <a:t>If nothing can vary, there is nothing to measure or compare.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What is a variable?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92040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A variable is a </a:t>
            </a:r>
            <a:r>
              <a:rPr sz="2000" b="1" u="sng" dirty="0"/>
              <a:t>characteristic that can take different values across people, posts, messages, organizations, or situations.</a:t>
            </a:r>
            <a:endParaRPr lang="en-US" sz="2000" b="1" u="sng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lang="en-US" sz="2000" dirty="0"/>
              <a:t>For example, </a:t>
            </a:r>
            <a:r>
              <a:rPr sz="2000" i="1" dirty="0"/>
              <a:t>Platform </a:t>
            </a:r>
            <a:r>
              <a:rPr sz="2000" dirty="0"/>
              <a:t>can be Instagram, TikTok, YouTube, or X.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i="1" dirty="0"/>
              <a:t>Number of likes </a:t>
            </a:r>
            <a:r>
              <a:rPr sz="2000" dirty="0"/>
              <a:t>can be 0, 10, 500, or 50,000.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i="1" dirty="0"/>
              <a:t>Trust </a:t>
            </a:r>
            <a:r>
              <a:rPr sz="2000" dirty="0"/>
              <a:t>can be low, medium, or high—or measured on a rating scale.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#</a:t>
            </a:r>
            <a:r>
              <a:rPr sz="2000" i="1" dirty="0"/>
              <a:t>Ad disclosure </a:t>
            </a:r>
            <a:r>
              <a:rPr sz="2000" dirty="0"/>
              <a:t>can be present or absent.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71950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/>
              <a:t>Variable = something that can vary.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Find the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35024"/>
            <a:ext cx="10698480" cy="914400"/>
          </a:xfrm>
          <a:prstGeom prst="roundRect">
            <a:avLst/>
          </a:prstGeom>
          <a:solidFill>
            <a:srgbClr val="FFF7DE"/>
          </a:solidFill>
          <a:ln>
            <a:solidFill>
              <a:srgbClr val="DCA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45C"/>
                </a:solidFill>
              </a:defRPr>
            </a:pPr>
            <a:r>
              <a:rPr sz="2000"/>
              <a:t>RQ: “Do fans perceive player-created sports posts as more authentic than team-created posts?”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14600"/>
            <a:ext cx="4881977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1. What is the first thing that varies?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2. What is the outcome that varies?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3. What values could each variable take?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 dirty="0"/>
              <a:t>4. Could we record those values in a dataset?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4674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Types of Variables</a:t>
            </a:r>
            <a:r>
              <a:rPr dirty="0"/>
              <a:t>: categorical vs. numeric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 dirty="0"/>
              <a:t>CATEGORICAL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 dirty="0"/>
              <a:t>Values tell us which group/category. Example: </a:t>
            </a:r>
            <a:r>
              <a:rPr sz="2000" b="1" dirty="0"/>
              <a:t>platform</a:t>
            </a:r>
            <a:r>
              <a:rPr sz="2000" dirty="0"/>
              <a:t> = Instagram / TikTok / YouTube.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258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 dirty="0"/>
              <a:t>NUMERIC / QUANTITATIVE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 dirty="0"/>
              <a:t>Values represent an amount or quantity. Example:</a:t>
            </a:r>
            <a:r>
              <a:rPr sz="2000" b="1" dirty="0"/>
              <a:t> number of comments </a:t>
            </a:r>
            <a:r>
              <a:rPr sz="2000" dirty="0"/>
              <a:t>= 0, 12, 245.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29572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Types of Variables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2030253" y="1111567"/>
            <a:ext cx="2039112" cy="242316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rPr sz="1600" dirty="0"/>
              <a:t>CATEGORICAL</a:t>
            </a:r>
            <a:endParaRPr lang="en-US" sz="1600" dirty="0"/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rPr lang="en-US" sz="1600" dirty="0"/>
              <a:t>Categories /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7132" y="4093952"/>
            <a:ext cx="2039112" cy="2423160"/>
          </a:xfrm>
          <a:prstGeom prst="roundRect">
            <a:avLst/>
          </a:prstGeom>
          <a:solidFill>
            <a:srgbClr val="FCEEF4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rPr sz="1600"/>
              <a:t>Nominal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rPr sz="1600"/>
              <a:t>Categories with NO natural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18788" y="4093952"/>
            <a:ext cx="2039112" cy="2423160"/>
          </a:xfrm>
          <a:prstGeom prst="roundRect">
            <a:avLst/>
          </a:prstGeom>
          <a:solidFill>
            <a:srgbClr val="ECF8F1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rPr sz="1600"/>
              <a:t>Ordinal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rPr sz="1600"/>
              <a:t>Categories with a meaningful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2635" y="1005840"/>
            <a:ext cx="2039112" cy="2423160"/>
          </a:xfrm>
          <a:prstGeom prst="roundRect">
            <a:avLst/>
          </a:prstGeom>
          <a:solidFill>
            <a:srgbClr val="FFF7DE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rPr sz="1600" dirty="0"/>
              <a:t>NUMERIC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rPr sz="1600" dirty="0"/>
              <a:t>Amounts / quantities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72300" y="4093952"/>
            <a:ext cx="2039112" cy="242316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rPr sz="1600" dirty="0"/>
              <a:t>Interval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rPr lang="en-US" sz="1600" dirty="0"/>
              <a:t>Numbers have </a:t>
            </a:r>
            <a:r>
              <a:rPr lang="en-US" sz="1600" b="1" dirty="0"/>
              <a:t>equal spacing</a:t>
            </a:r>
            <a:r>
              <a:rPr lang="en-US" sz="1600" dirty="0"/>
              <a:t>, but zero does </a:t>
            </a:r>
            <a:r>
              <a:rPr lang="en-US" sz="1600" b="1" dirty="0"/>
              <a:t>not</a:t>
            </a:r>
            <a:r>
              <a:rPr lang="en-US" sz="1600" dirty="0"/>
              <a:t> mean “none.”</a:t>
            </a:r>
            <a:endParaRPr sz="1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58263FE-0271-1EA0-45FE-8E0492A7F339}"/>
              </a:ext>
            </a:extLst>
          </p:cNvPr>
          <p:cNvSpPr/>
          <p:nvPr/>
        </p:nvSpPr>
        <p:spPr>
          <a:xfrm>
            <a:off x="9925812" y="4093952"/>
            <a:ext cx="2039112" cy="242316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rPr sz="1600" dirty="0"/>
              <a:t> Ratio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rPr lang="en-US" sz="1600" dirty="0"/>
              <a:t>Numbers have </a:t>
            </a:r>
            <a:r>
              <a:rPr lang="en-US" sz="1600" b="1" dirty="0"/>
              <a:t>equal spacing AND a true zero</a:t>
            </a:r>
            <a:r>
              <a:rPr lang="en-US" sz="1600" dirty="0"/>
              <a:t>—zero means none of that quantity.</a:t>
            </a:r>
            <a:endParaRPr sz="1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E60B15-1583-95C3-BBA0-EE5A4F8120C5}"/>
              </a:ext>
            </a:extLst>
          </p:cNvPr>
          <p:cNvCxnSpPr>
            <a:cxnSpLocks/>
          </p:cNvCxnSpPr>
          <p:nvPr/>
        </p:nvCxnSpPr>
        <p:spPr>
          <a:xfrm>
            <a:off x="9163050" y="3446252"/>
            <a:ext cx="0" cy="240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450AB7-DD77-1C27-9B64-B7D603930A73}"/>
              </a:ext>
            </a:extLst>
          </p:cNvPr>
          <p:cNvCxnSpPr>
            <a:cxnSpLocks/>
          </p:cNvCxnSpPr>
          <p:nvPr/>
        </p:nvCxnSpPr>
        <p:spPr>
          <a:xfrm>
            <a:off x="3049809" y="3534727"/>
            <a:ext cx="0" cy="213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32D9E4-1C31-40AE-3730-5780F8B4D12C}"/>
              </a:ext>
            </a:extLst>
          </p:cNvPr>
          <p:cNvCxnSpPr>
            <a:cxnSpLocks/>
          </p:cNvCxnSpPr>
          <p:nvPr/>
        </p:nvCxnSpPr>
        <p:spPr>
          <a:xfrm>
            <a:off x="1882320" y="3748088"/>
            <a:ext cx="23694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53AB764-506C-AF8B-4CF6-1434447B653E}"/>
              </a:ext>
            </a:extLst>
          </p:cNvPr>
          <p:cNvCxnSpPr/>
          <p:nvPr/>
        </p:nvCxnSpPr>
        <p:spPr>
          <a:xfrm>
            <a:off x="7995561" y="3691890"/>
            <a:ext cx="23349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0D2067-5467-C6A6-C377-BD0C02FC7667}"/>
              </a:ext>
            </a:extLst>
          </p:cNvPr>
          <p:cNvCxnSpPr/>
          <p:nvPr/>
        </p:nvCxnSpPr>
        <p:spPr>
          <a:xfrm>
            <a:off x="1882320" y="3748088"/>
            <a:ext cx="0" cy="345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A3622D7-78FF-61FB-3036-33B592FA8298}"/>
              </a:ext>
            </a:extLst>
          </p:cNvPr>
          <p:cNvCxnSpPr/>
          <p:nvPr/>
        </p:nvCxnSpPr>
        <p:spPr>
          <a:xfrm>
            <a:off x="4251768" y="3748088"/>
            <a:ext cx="0" cy="345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B1A1E33-C321-EBC8-8159-254624811AC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991856" y="3687127"/>
            <a:ext cx="0" cy="406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674745-82AC-BDA8-AAFF-CE9D8CB2C7E0}"/>
              </a:ext>
            </a:extLst>
          </p:cNvPr>
          <p:cNvCxnSpPr>
            <a:cxnSpLocks/>
          </p:cNvCxnSpPr>
          <p:nvPr/>
        </p:nvCxnSpPr>
        <p:spPr>
          <a:xfrm>
            <a:off x="10330539" y="3687126"/>
            <a:ext cx="0" cy="406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2151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1. </a:t>
            </a:r>
            <a:r>
              <a:rPr dirty="0"/>
              <a:t>Nominal variables: categories with no natural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01852"/>
            <a:ext cx="6027163" cy="27084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The values are names or labels.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There is no meaningful “higher” or “lower” category.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Social platform: Instagram / TikTok / YouTube / X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Content format: video / image / carousel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Sports beat: football / basketball / baseball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#Ad disclosure: yes /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627" y="4286250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/>
              <a:t>Nominal asks: WHICH category?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68851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2. </a:t>
            </a:r>
            <a:r>
              <a:rPr dirty="0"/>
              <a:t>Ordinal variables: categories with an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7515775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The values can be ranked from lower to higher.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But the distance between categories is not guaranteed to be equal.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Brand reputation: Poor / Fair / Good / Excellent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Frequency category: Never / Rarely / Sometimes / Often / Always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Agreement item: Strongly disagree → Strongly 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860116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/>
              <a:t>Ordinal asks: WHICH level or rank?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5594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3. </a:t>
            </a:r>
            <a:r>
              <a:rPr dirty="0"/>
              <a:t>Interval variables: equal numerical intervals, but no true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8228"/>
            <a:ext cx="1034129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The difference between 10 and 20 represents the same amount as the difference between 20 and 30.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But zero does NOT mean the complete absence of the thing.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Classic example: temperature in °F or °C.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lang="en-US" sz="2000" dirty="0"/>
              <a:t>I</a:t>
            </a:r>
            <a:r>
              <a:rPr sz="2000" dirty="0"/>
              <a:t>nterval variables are less common in everyday communication examples than nominal, ordinal, or ratio variables.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2830" y="4214813"/>
            <a:ext cx="8690551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/>
              <a:t>Interval = equal spacing; zero is not “none.”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70737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4. </a:t>
            </a:r>
            <a:r>
              <a:rPr dirty="0"/>
              <a:t>Ratio variables: equal intervals + a true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7097199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Zero means none of the quantity is present.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Number of Instagram comments: 0 really means no comments.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Video viewing time: 0 seconds means no viewing time.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Number of followers: 0 means no followers.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Number of articles shared: 0 means none shared.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627" y="3860116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/>
              <a:t>Ratio = equal spacing + meaningful zero.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42712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dirty="0"/>
              <a:t>Put the four </a:t>
            </a:r>
            <a:r>
              <a:rPr lang="en-US" dirty="0"/>
              <a:t>levels</a:t>
            </a:r>
            <a:r>
              <a:rPr dirty="0"/>
              <a:t> together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329272"/>
              </p:ext>
            </p:extLst>
          </p:nvPr>
        </p:nvGraphicFramePr>
        <p:xfrm>
          <a:off x="594360" y="137160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Level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Broad family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Easy question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Communication example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Example values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Which category?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Primary social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Instagram / TikTok / YouTube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Ordinal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Categorical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Which ordered level?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Frequency of checking sports news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Never / Rarely / Sometimes / Often / Always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How much, equal spacing, no true zero?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Temperature at outdoor PR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50°F / 60°F / 70°F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Ratio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Numeric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How much, with a true zero?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Number of comments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0 / 5 / 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54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What about 1–5 or 1–7 ratings?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0145" y="1096136"/>
            <a:ext cx="866965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Example: “How credible is this post?” 1 = Not at all credible → 7 = Extremely credible.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A single Likert-type item is technically ORDINAL: the response options have an order.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The numbers are labels for ordered response categories; we should not automatically assume equal psychological distance between every point.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Researchers often combine multiple related items into a scale and may analyze the resulting score as approximately continuous.</a:t>
            </a:r>
          </a:p>
          <a:p>
            <a:pPr>
              <a:spcAft>
                <a:spcPts val="1200"/>
              </a:spcAft>
              <a:defRPr sz="1900">
                <a:solidFill>
                  <a:srgbClr val="232B35"/>
                </a:solidFill>
              </a:defRPr>
            </a:pPr>
            <a:r>
              <a:rPr sz="2000" dirty="0"/>
              <a:t>For this class: first identify what the response options actually mean.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764360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 dirty="0"/>
              <a:t>A number printed beside a response option does not automatically make the variable ratio or </a:t>
            </a:r>
            <a:r>
              <a:rPr lang="en-US" sz="2000" dirty="0"/>
              <a:t>interval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dirty="0"/>
              <a:t>Variable classification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35024"/>
            <a:ext cx="10698480" cy="914400"/>
          </a:xfrm>
          <a:prstGeom prst="roundRect">
            <a:avLst/>
          </a:prstGeom>
          <a:solidFill>
            <a:srgbClr val="FFF7DE"/>
          </a:solidFill>
          <a:ln>
            <a:solidFill>
              <a:srgbClr val="DCA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45C"/>
                </a:solidFill>
              </a:defRPr>
            </a:pPr>
            <a:r>
              <a:rPr sz="2000"/>
              <a:t>Classify each as nominal, ordinal, interval, or ratio.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14600"/>
            <a:ext cx="6419193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/>
              <a:t>1. Platform used most: Instagram / TikTok / YouTube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/>
              <a:t>2. Agreement: Strongly disagree → Strongly agree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/>
              <a:t>3. Number of likes on a post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/>
              <a:t>4. Seconds spent watching a TikTok</a:t>
            </a:r>
          </a:p>
          <a:p>
            <a:pPr>
              <a:spcAft>
                <a:spcPts val="1200"/>
              </a:spcAft>
              <a:defRPr sz="1800">
                <a:solidFill>
                  <a:srgbClr val="232B35"/>
                </a:solidFill>
              </a:defRPr>
            </a:pPr>
            <a:r>
              <a:rPr sz="2000"/>
              <a:t>5. Temperature during an outdoor football press conference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A variable name is not enough: make it measurable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6767750" cy="27084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5"/>
                </a:solidFill>
              </a:defRPr>
            </a:pPr>
            <a:r>
              <a:rPr sz="2000" dirty="0"/>
              <a:t>Variable: </a:t>
            </a:r>
            <a:r>
              <a:rPr sz="2000" b="1" dirty="0"/>
              <a:t>“engagement” </a:t>
            </a:r>
            <a:r>
              <a:rPr sz="2000" dirty="0"/>
              <a:t>— what exactly does that mean?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Could mean number of likes.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Could mean number of comments or shares.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Could mean click-through rate.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Could mean seconds spent viewing.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Could mean a self-report rating of attention or involvement.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951125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lang="en-US" sz="2000" dirty="0"/>
              <a:t>Measurement</a:t>
            </a:r>
            <a:r>
              <a:rPr sz="2000" dirty="0"/>
              <a:t> = deciding exactly how an idea will be represented by observable 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What is Measurement?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115568"/>
            <a:ext cx="10698480" cy="749808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45C"/>
                </a:solidFill>
              </a:defRPr>
            </a:pPr>
            <a:r>
              <a:t>Measurement = deciding how we will turn a variable into data we can actually record.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148840"/>
            <a:ext cx="3154680" cy="2468880"/>
          </a:xfrm>
          <a:prstGeom prst="roundRect">
            <a:avLst/>
          </a:prstGeom>
          <a:solidFill>
            <a:srgbClr val="FFF7DE"/>
          </a:solidFill>
          <a:ln>
            <a:solidFill>
              <a:srgbClr val="D2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2A528"/>
                </a:solidFill>
              </a:defRPr>
            </a:pPr>
            <a:r>
              <a:t>VARIABLE</a:t>
            </a:r>
          </a:p>
          <a:p>
            <a:pPr algn="ctr">
              <a:spcBef>
                <a:spcPts val="1500"/>
              </a:spcBef>
              <a:defRPr sz="2100" b="1">
                <a:solidFill>
                  <a:srgbClr val="14345C"/>
                </a:solidFill>
              </a:defRPr>
            </a:pPr>
            <a:r>
              <a:t>Trust in an influencer</a:t>
            </a:r>
          </a:p>
          <a:p>
            <a:pPr algn="ctr">
              <a:spcBef>
                <a:spcPts val="1200"/>
              </a:spcBef>
              <a:defRPr sz="1400">
                <a:solidFill>
                  <a:srgbClr val="232B35"/>
                </a:solidFill>
              </a:defRPr>
            </a:pPr>
            <a:r>
              <a:t>“Trust” is an idea.</a:t>
            </a:r>
            <a:br/>
            <a:r>
              <a:t>We cannot put the idea itself directly into a dataset.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080" y="2880360"/>
            <a:ext cx="731520" cy="685800"/>
          </a:xfrm>
          <a:prstGeom prst="rightArrow">
            <a:avLst/>
          </a:prstGeom>
          <a:solidFill>
            <a:srgbClr val="32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83480" y="2148840"/>
            <a:ext cx="2971800" cy="2468880"/>
          </a:xfrm>
          <a:prstGeom prst="roundRect">
            <a:avLst/>
          </a:prstGeom>
          <a:solidFill>
            <a:srgbClr val="ECF8F1"/>
          </a:solidFill>
          <a:ln>
            <a:solidFill>
              <a:srgbClr val="28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9161"/>
                </a:solidFill>
              </a:defRPr>
            </a:pPr>
            <a:r>
              <a:t>MEASURE IT</a:t>
            </a:r>
          </a:p>
          <a:p>
            <a:pPr algn="ctr">
              <a:spcBef>
                <a:spcPts val="1500"/>
              </a:spcBef>
              <a:defRPr sz="2100" b="1">
                <a:solidFill>
                  <a:srgbClr val="14345C"/>
                </a:solidFill>
              </a:defRPr>
            </a:pPr>
            <a:r>
              <a:t>“I trust this influencer.”</a:t>
            </a:r>
          </a:p>
          <a:p>
            <a:pPr algn="ctr">
              <a:spcBef>
                <a:spcPts val="1200"/>
              </a:spcBef>
              <a:defRPr sz="1400">
                <a:solidFill>
                  <a:srgbClr val="232B35"/>
                </a:solidFill>
              </a:defRPr>
            </a:pPr>
            <a:r>
              <a:t>1 = Strongly disagree</a:t>
            </a:r>
            <a:br/>
            <a:r>
              <a:t>↓</a:t>
            </a:r>
            <a:br/>
            <a:r>
              <a:t>7 = Strongly agree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119872" y="2880360"/>
            <a:ext cx="731520" cy="685800"/>
          </a:xfrm>
          <a:prstGeom prst="rightArrow">
            <a:avLst/>
          </a:prstGeom>
          <a:solidFill>
            <a:srgbClr val="32A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06840" y="2148840"/>
            <a:ext cx="2423160" cy="246888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AEC9"/>
                </a:solidFill>
              </a:defRPr>
            </a:pPr>
            <a:r>
              <a:t>DATA</a:t>
            </a:r>
          </a:p>
          <a:p>
            <a:pPr algn="ctr">
              <a:spcBef>
                <a:spcPts val="1500"/>
              </a:spcBef>
              <a:defRPr sz="2100" b="1">
                <a:solidFill>
                  <a:srgbClr val="14345C"/>
                </a:solidFill>
              </a:defRPr>
            </a:pPr>
            <a:r>
              <a:t>2   5   6</a:t>
            </a:r>
            <a:br/>
            <a:r>
              <a:t>4   7   3</a:t>
            </a:r>
          </a:p>
          <a:p>
            <a:pPr algn="ctr">
              <a:spcBef>
                <a:spcPts val="1200"/>
              </a:spcBef>
              <a:defRPr sz="1400">
                <a:solidFill>
                  <a:srgbClr val="232B35"/>
                </a:solidFill>
              </a:defRPr>
            </a:pPr>
            <a:r>
              <a:t>Now each participant has a recorded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One concept can be measured in different 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TRUST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Single 1–7 rating • multiple survey items • willingness to rely on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258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ENGAGEMENT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Likes • comments • shares • viewing time • self-reported involvement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289804" cy="1417320"/>
          </a:xfrm>
          <a:prstGeom prst="roundRect">
            <a:avLst/>
          </a:prstGeom>
          <a:solidFill>
            <a:srgbClr val="ECF8F1"/>
          </a:solidFill>
          <a:ln>
            <a:solidFill>
              <a:srgbClr val="28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PURCHASE INTENTION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1–7 likelihood rating • click on “Shop Now” • choice between 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926080"/>
            <a:ext cx="5289804" cy="1417320"/>
          </a:xfrm>
          <a:prstGeom prst="roundRect">
            <a:avLst/>
          </a:prstGeom>
          <a:solidFill>
            <a:srgbClr val="FFF7DE"/>
          </a:solidFill>
          <a:ln>
            <a:solidFill>
              <a:srgbClr val="D2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NEWS USE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Minutes per day • days per week • platform frequency categories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7956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dirty="0"/>
              <a:t>Common </a:t>
            </a:r>
            <a:r>
              <a:rPr lang="en-US" dirty="0"/>
              <a:t>measurements </a:t>
            </a:r>
            <a:r>
              <a:rPr dirty="0"/>
              <a:t>in communication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Category choice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Which platform do you use most? Instagram / TikTok / YouTube /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258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Yes / No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Did you notice the #Ad disclosure? Yes / 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289804" cy="1417320"/>
          </a:xfrm>
          <a:prstGeom prst="roundRect">
            <a:avLst/>
          </a:prstGeom>
          <a:solidFill>
            <a:srgbClr val="ECF8F1"/>
          </a:solidFill>
          <a:ln>
            <a:solidFill>
              <a:srgbClr val="28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Likert-type agreement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“I trust this influencer.” Strongly disagree → Strongly 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926080"/>
            <a:ext cx="5289804" cy="1417320"/>
          </a:xfrm>
          <a:prstGeom prst="roundRect">
            <a:avLst/>
          </a:prstGeom>
          <a:solidFill>
            <a:srgbClr val="FFF7DE"/>
          </a:solidFill>
          <a:ln>
            <a:solidFill>
              <a:srgbClr val="D2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Rating scale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How credible is this story? 1 = Not at all → 7 = Extremely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262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Frequency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Never / Rarely / Sometimes / Often / Always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45262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2000"/>
              <a:t>Behavioral / digital measure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2000"/>
              <a:t>Clicks • shares • comments • viewing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dirty="0"/>
              <a:t>Measurement choices create variable types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928167"/>
              </p:ext>
            </p:extLst>
          </p:nvPr>
        </p:nvGraphicFramePr>
        <p:xfrm>
          <a:off x="502920" y="1168146"/>
          <a:ext cx="1097279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Question / measure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Recorded values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Variable level</a:t>
                      </a:r>
                    </a:p>
                  </a:txBody>
                  <a:tcPr>
                    <a:solidFill>
                      <a:srgbClr val="143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Which platform do you use most?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Instagram / TikTok / YouTube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How often do you check team news?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Never → Always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Ordinal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How credible is this post?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1–7 ordered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Ordinal (single item)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How many comments did the post receive?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0, 1, 2, 3...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Ratio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How long did the person watch?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/>
                        <a:t>0.0, 3.4, 18.7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B35"/>
                          </a:solidFill>
                        </a:defRPr>
                      </a:pPr>
                      <a:r>
                        <a:rPr sz="2000" dirty="0"/>
                        <a:t>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CFEB1-C03A-2291-C1AA-BA4124F9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599EDC-6AEA-CE2E-AA87-F357CDD19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60" y="716108"/>
            <a:ext cx="9732349" cy="5425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825453-1F18-9F71-DDF8-9B5D68F1CF8C}"/>
              </a:ext>
            </a:extLst>
          </p:cNvPr>
          <p:cNvSpPr txBox="1"/>
          <p:nvPr/>
        </p:nvSpPr>
        <p:spPr>
          <a:xfrm>
            <a:off x="591460" y="217728"/>
            <a:ext cx="92070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You have a research question and measurement. Now what?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5EA5D-A5E7-341C-B5BE-74E86B6D662E}"/>
              </a:ext>
            </a:extLst>
          </p:cNvPr>
          <p:cNvSpPr/>
          <p:nvPr/>
        </p:nvSpPr>
        <p:spPr>
          <a:xfrm>
            <a:off x="2832407" y="1561171"/>
            <a:ext cx="1661533" cy="3735657"/>
          </a:xfrm>
          <a:prstGeom prst="rect">
            <a:avLst/>
          </a:prstGeom>
          <a:solidFill>
            <a:srgbClr val="00B0F0">
              <a:alpha val="1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59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1952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For example: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53312"/>
            <a:ext cx="10561320" cy="91440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345C"/>
                </a:solidFill>
              </a:defRPr>
            </a:pPr>
            <a:r>
              <a:t>RQ: Does seeing an #Ad disclosure change how credible an influencer seems?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086247" cy="15850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5"/>
                </a:solidFill>
              </a:defRPr>
            </a:pPr>
            <a:r>
              <a:rPr dirty="0"/>
              <a:t>• Has someone already studied this?</a:t>
            </a:r>
          </a:p>
          <a:p>
            <a:pPr>
              <a:spcAft>
                <a:spcPts val="1000"/>
              </a:spcAft>
              <a:defRPr sz="1800">
                <a:solidFill>
                  <a:srgbClr val="232B35"/>
                </a:solidFill>
              </a:defRPr>
            </a:pPr>
            <a:r>
              <a:rPr dirty="0"/>
              <a:t>• What did previous studies find?</a:t>
            </a:r>
          </a:p>
          <a:p>
            <a:pPr>
              <a:spcAft>
                <a:spcPts val="1000"/>
              </a:spcAft>
              <a:defRPr sz="1800">
                <a:solidFill>
                  <a:srgbClr val="232B35"/>
                </a:solidFill>
              </a:defRPr>
            </a:pPr>
            <a:r>
              <a:rPr dirty="0"/>
              <a:t>• What do we still NOT know?</a:t>
            </a:r>
          </a:p>
          <a:p>
            <a:pPr>
              <a:spcAft>
                <a:spcPts val="1000"/>
              </a:spcAft>
              <a:defRPr sz="1800">
                <a:solidFill>
                  <a:srgbClr val="232B35"/>
                </a:solidFill>
              </a:defRPr>
            </a:pPr>
            <a:r>
              <a:rPr dirty="0"/>
              <a:t>• Does our question add something new?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5257800"/>
            <a:ext cx="10058400" cy="713232"/>
          </a:xfrm>
          <a:prstGeom prst="roundRect">
            <a:avLst/>
          </a:prstGeom>
          <a:solidFill>
            <a:srgbClr val="FFF7DE"/>
          </a:solidFill>
          <a:ln>
            <a:solidFill>
              <a:srgbClr val="DCA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t>Literature review = finding, reading, and synthesizing previous research related to your research question.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What Does a Literature Review Actually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874519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dirty="0"/>
              <a:t>1. Shows what we already know</a:t>
            </a:r>
          </a:p>
          <a:p>
            <a:pPr>
              <a:spcBef>
                <a:spcPts val="500"/>
              </a:spcBef>
              <a:defRPr sz="1400">
                <a:solidFill>
                  <a:srgbClr val="232B35"/>
                </a:solidFill>
              </a:defRPr>
            </a:pPr>
            <a:r>
              <a:rPr dirty="0"/>
              <a:t>What have researchers already found about #Ad disclosures, credibility, authenticity, or purchase intention?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325880"/>
            <a:ext cx="5257800" cy="1874519"/>
          </a:xfrm>
          <a:prstGeom prst="roundRect">
            <a:avLst/>
          </a:prstGeom>
          <a:solidFill>
            <a:srgbClr val="FCEEF4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2. Shows how others studied it</a:t>
            </a:r>
          </a:p>
          <a:p>
            <a:pPr>
              <a:spcBef>
                <a:spcPts val="500"/>
              </a:spcBef>
              <a:defRPr sz="1400">
                <a:solidFill>
                  <a:srgbClr val="232B35"/>
                </a:solidFill>
              </a:defRPr>
            </a:pPr>
            <a:r>
              <a:t>Who did they study? What questions or measures did they use? Instagram, TikTok, or another platform?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56432"/>
            <a:ext cx="5257800" cy="1874519"/>
          </a:xfrm>
          <a:prstGeom prst="roundRect">
            <a:avLst/>
          </a:prstGeom>
          <a:solidFill>
            <a:srgbClr val="ECF8F1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3. Finds the gap</a:t>
            </a:r>
          </a:p>
          <a:p>
            <a:pPr>
              <a:spcBef>
                <a:spcPts val="500"/>
              </a:spcBef>
              <a:defRPr sz="1400">
                <a:solidFill>
                  <a:srgbClr val="232B35"/>
                </a:solidFill>
              </a:defRPr>
            </a:pPr>
            <a:r>
              <a:t>Maybe prior work studied adults but not college students, Instagram but not TikTok, or found conflicting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3456432"/>
            <a:ext cx="5257800" cy="1874519"/>
          </a:xfrm>
          <a:prstGeom prst="roundRect">
            <a:avLst/>
          </a:prstGeom>
          <a:solidFill>
            <a:srgbClr val="FFF7DE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dirty="0"/>
              <a:t>4. Helps design our study</a:t>
            </a:r>
          </a:p>
          <a:p>
            <a:pPr>
              <a:spcBef>
                <a:spcPts val="500"/>
              </a:spcBef>
              <a:defRPr sz="1400">
                <a:solidFill>
                  <a:srgbClr val="232B35"/>
                </a:solidFill>
              </a:defRPr>
            </a:pPr>
            <a:r>
              <a:rPr dirty="0"/>
              <a:t>The literature helps refine the RQ, identify variables, develop hypotheses, choose measures, and select a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650992"/>
            <a:ext cx="9966960" cy="5029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345C"/>
                </a:solidFill>
              </a:defRPr>
            </a:pPr>
            <a:r>
              <a:t>A literature review connects YOUR question to what researchers already know.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From Research Question → Literature →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332720" cy="786384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06FCD"/>
                </a:solidFill>
              </a:defRPr>
            </a:pPr>
            <a:r>
              <a:t>1. RESEARCH QUESTION</a:t>
            </a:r>
          </a:p>
          <a:p>
            <a:pPr>
              <a:defRPr sz="1350">
                <a:solidFill>
                  <a:srgbClr val="232B35"/>
                </a:solidFill>
              </a:defRPr>
            </a:pPr>
            <a:r>
              <a:t>Does #Ad disclosure affect influencer credibility?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10332720" cy="786384"/>
          </a:xfrm>
          <a:prstGeom prst="roundRect">
            <a:avLst/>
          </a:prstGeom>
          <a:solidFill>
            <a:srgbClr val="FCEEF4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06FCD"/>
                </a:solidFill>
              </a:defRPr>
            </a:pPr>
            <a:r>
              <a:t>2. SEARCH LITERATURE</a:t>
            </a:r>
          </a:p>
          <a:p>
            <a:pPr>
              <a:defRPr sz="1350">
                <a:solidFill>
                  <a:srgbClr val="232B35"/>
                </a:solidFill>
              </a:defRPr>
            </a:pPr>
            <a:r>
              <a:t>influencer marketing • #Ad • disclosure • credibility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63240"/>
            <a:ext cx="10332720" cy="786384"/>
          </a:xfrm>
          <a:prstGeom prst="roundRect">
            <a:avLst/>
          </a:prstGeom>
          <a:solidFill>
            <a:srgbClr val="ECF8F1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06FCD"/>
                </a:solidFill>
              </a:defRPr>
            </a:pPr>
            <a:r>
              <a:rPr dirty="0"/>
              <a:t>3. WHAT DO WE KNOW?</a:t>
            </a:r>
          </a:p>
          <a:p>
            <a:pPr>
              <a:defRPr sz="1350">
                <a:solidFill>
                  <a:srgbClr val="232B35"/>
                </a:solidFill>
              </a:defRPr>
            </a:pPr>
            <a:r>
              <a:rPr dirty="0"/>
              <a:t>What has been found? What measures were used? What is missing?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77639"/>
            <a:ext cx="10332720" cy="786384"/>
          </a:xfrm>
          <a:prstGeom prst="roundRect">
            <a:avLst/>
          </a:prstGeom>
          <a:solidFill>
            <a:srgbClr val="FFF7DE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06FCD"/>
                </a:solidFill>
              </a:defRPr>
            </a:pPr>
            <a:r>
              <a:rPr dirty="0"/>
              <a:t>4. REFINE STUDY</a:t>
            </a:r>
          </a:p>
          <a:p>
            <a:pPr>
              <a:defRPr sz="1350">
                <a:solidFill>
                  <a:srgbClr val="232B35"/>
                </a:solidFill>
              </a:defRPr>
            </a:pPr>
            <a:r>
              <a:rPr dirty="0"/>
              <a:t>Variables + hypothesis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92040"/>
            <a:ext cx="10332720" cy="786384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06FCD"/>
                </a:solidFill>
              </a:defRPr>
            </a:pPr>
            <a:r>
              <a:t>5. DESIGN</a:t>
            </a:r>
          </a:p>
          <a:p>
            <a:pPr>
              <a:defRPr sz="1350">
                <a:solidFill>
                  <a:srgbClr val="232B35"/>
                </a:solidFill>
              </a:defRPr>
            </a:pPr>
            <a:r>
              <a:t>Survey? Experiment? Another design?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925312"/>
            <a:ext cx="10424160" cy="393192"/>
          </a:xfrm>
          <a:prstGeom prst="roundRect">
            <a:avLst/>
          </a:prstGeom>
          <a:solidFill>
            <a:srgbClr val="14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dirty="0"/>
              <a:t>RQ → Literature Review → Variables &amp; Hypothesis → Measurement → Research Design → Data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CDB053-D76E-805B-5A0E-F54C76830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25" y="52635"/>
            <a:ext cx="10129093" cy="675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8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3551-F503-100B-E7FE-6874C40E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6DEAEE-1388-F448-5EB5-EC5C9FDAE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60" y="716108"/>
            <a:ext cx="9732349" cy="54257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D29515-7CB8-7AE3-C580-EC27CBD29471}"/>
              </a:ext>
            </a:extLst>
          </p:cNvPr>
          <p:cNvSpPr/>
          <p:nvPr/>
        </p:nvSpPr>
        <p:spPr>
          <a:xfrm>
            <a:off x="4434467" y="1573591"/>
            <a:ext cx="1944031" cy="3790146"/>
          </a:xfrm>
          <a:prstGeom prst="rect">
            <a:avLst/>
          </a:prstGeom>
          <a:solidFill>
            <a:srgbClr val="00B0F0">
              <a:alpha val="1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0858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Research design helps us to think about how to collect variables</a:t>
            </a:r>
          </a:p>
          <a:p>
            <a:pPr>
              <a:defRPr sz="2800" b="1">
                <a:solidFill>
                  <a:srgbClr val="14345C"/>
                </a:solidFill>
              </a:defRPr>
            </a:pPr>
            <a:endParaRPr lang="en-US" dirty="0"/>
          </a:p>
          <a:p>
            <a:pPr>
              <a:defRPr sz="2800" b="1">
                <a:solidFill>
                  <a:srgbClr val="14345C"/>
                </a:solidFill>
              </a:defRPr>
            </a:pPr>
            <a:r>
              <a:rPr dirty="0"/>
              <a:t>What does “research design”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1619"/>
            <a:ext cx="10111551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Research starts with a questio</a:t>
            </a:r>
            <a:r>
              <a:rPr lang="en-US" sz="2000" dirty="0"/>
              <a:t>n. </a:t>
            </a:r>
            <a:r>
              <a:rPr sz="2000" dirty="0"/>
              <a:t>We decide what evidence would help answer the question.</a:t>
            </a:r>
            <a:r>
              <a:rPr lang="en-US" sz="2000" dirty="0"/>
              <a:t>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We decide what information must be collected.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We decide who or what we will collect it from.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Research design is </a:t>
            </a:r>
            <a:r>
              <a:rPr sz="2000" b="1" dirty="0"/>
              <a:t>the PLAN connecting the question to the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008799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 dirty="0"/>
              <a:t>Question → evidence needed → plan to collect evidence</a:t>
            </a:r>
            <a:r>
              <a:rPr lang="en-US" sz="2000" dirty="0"/>
              <a:t> (RESEAECH DESIGN)</a:t>
            </a:r>
            <a:r>
              <a:rPr sz="2000" dirty="0"/>
              <a:t> → answer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9972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S</a:t>
            </a:r>
            <a:r>
              <a:rPr dirty="0"/>
              <a:t>urvey is </a:t>
            </a:r>
            <a:r>
              <a:rPr lang="en-US" dirty="0"/>
              <a:t>a research design; it’s </a:t>
            </a:r>
            <a:r>
              <a:rPr dirty="0"/>
              <a:t>one way to collect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257" y="1427755"/>
            <a:ext cx="969835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A survey asks people a standardized set of questions.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Surveys are especially useful for attitudes, beliefs, perceptions, intentions, self-reported behaviors, and demographics.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A survey can include nominal, ordinal, and numeric variables in the same questionnaire.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32B35"/>
                </a:solidFill>
              </a:defRPr>
            </a:pPr>
            <a:r>
              <a:rPr sz="2000" dirty="0"/>
              <a:t>Survey is a </a:t>
            </a:r>
            <a:r>
              <a:rPr lang="en-US" sz="2000" dirty="0"/>
              <a:t>RESEARCH DESIGN AND A </a:t>
            </a:r>
            <a:r>
              <a:rPr sz="2000" dirty="0"/>
              <a:t>DATA-COLLECTION METHOD; what you can conclude depends on the overall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2705" y="4451836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/>
              <a:t>Survey question → response → variable value → dataset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5262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Example: </a:t>
            </a:r>
            <a:r>
              <a:rPr dirty="0"/>
              <a:t>A tiny social-media survey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1600"/>
              <a:t>Platform — nominal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1600"/>
              <a:t>Which platform do you use most? Instagram / TikTok / YouTube / X /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258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1600"/>
              <a:t>Frequency — ordinal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1600"/>
              <a:t>How often do you get news from social media? Never → Always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289804" cy="1417320"/>
          </a:xfrm>
          <a:prstGeom prst="roundRect">
            <a:avLst/>
          </a:prstGeom>
          <a:solidFill>
            <a:srgbClr val="ECF8F1"/>
          </a:solidFill>
          <a:ln>
            <a:solidFill>
              <a:srgbClr val="28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1600"/>
              <a:t>Credibility — ordinal item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1600"/>
              <a:t>This news post is credible. Strongly disagree → Strongly 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926080"/>
            <a:ext cx="5289804" cy="1417320"/>
          </a:xfrm>
          <a:prstGeom prst="roundRect">
            <a:avLst/>
          </a:prstGeom>
          <a:solidFill>
            <a:srgbClr val="FFF7DE"/>
          </a:solidFill>
          <a:ln>
            <a:solidFill>
              <a:srgbClr val="D2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1600"/>
              <a:t>Behavior — ratio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1600"/>
              <a:t>How many news posts did you share in the past 7 days? 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262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1600"/>
              <a:t>Exposure — nominal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1600"/>
              <a:t>Have you seen this campaign before? Yes / 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45262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rPr sz="1600"/>
              <a:t>Viewing time — ratio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rPr sz="1600"/>
              <a:t>How many minutes per day do you estimate using TikTok? ___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Good survey questions are boring—in a good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6780" y="1248156"/>
            <a:ext cx="8133317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5"/>
                </a:solidFill>
              </a:defRPr>
            </a:pPr>
            <a:r>
              <a:rPr sz="2000" b="1" dirty="0"/>
              <a:t>Clear: </a:t>
            </a:r>
            <a:r>
              <a:rPr lang="en-US" sz="2000" dirty="0"/>
              <a:t>Participants</a:t>
            </a:r>
            <a:r>
              <a:rPr sz="2000" dirty="0"/>
              <a:t> should interpret the question similarly.</a:t>
            </a:r>
          </a:p>
          <a:p>
            <a:pPr>
              <a:spcAft>
                <a:spcPts val="1200"/>
              </a:spcAft>
              <a:defRPr sz="1900">
                <a:solidFill>
                  <a:srgbClr val="232B35"/>
                </a:solidFill>
              </a:defRPr>
            </a:pPr>
            <a:r>
              <a:rPr sz="2000" b="1" dirty="0"/>
              <a:t>Specific: </a:t>
            </a:r>
            <a:r>
              <a:rPr lang="en-US" sz="2000" dirty="0"/>
              <a:t>define</a:t>
            </a:r>
            <a:r>
              <a:rPr sz="2000" dirty="0"/>
              <a:t> the time period when needed.</a:t>
            </a:r>
            <a:endParaRPr lang="en-US" sz="2000" dirty="0"/>
          </a:p>
          <a:p>
            <a:pPr>
              <a:spcAft>
                <a:spcPts val="1200"/>
              </a:spcAft>
              <a:defRPr sz="1900">
                <a:solidFill>
                  <a:srgbClr val="232B35"/>
                </a:solidFill>
              </a:defRPr>
            </a:pPr>
            <a:r>
              <a:rPr sz="2000" b="1" dirty="0"/>
              <a:t>Neutral</a:t>
            </a:r>
            <a:r>
              <a:rPr sz="2000" dirty="0"/>
              <a:t>: do not push respondents toward an answer.</a:t>
            </a:r>
            <a:endParaRPr lang="en-US" sz="2000" dirty="0"/>
          </a:p>
          <a:p>
            <a:pPr>
              <a:spcAft>
                <a:spcPts val="1200"/>
              </a:spcAft>
              <a:defRPr sz="1900">
                <a:solidFill>
                  <a:srgbClr val="232B35"/>
                </a:solidFill>
              </a:defRPr>
            </a:pPr>
            <a:r>
              <a:rPr sz="2000" b="1" dirty="0"/>
              <a:t>One idea at a time: </a:t>
            </a:r>
            <a:r>
              <a:rPr sz="2000" dirty="0"/>
              <a:t>avoid double-barreled questions.</a:t>
            </a:r>
          </a:p>
          <a:p>
            <a:pPr>
              <a:spcAft>
                <a:spcPts val="1200"/>
              </a:spcAft>
              <a:defRPr sz="1900">
                <a:solidFill>
                  <a:srgbClr val="232B35"/>
                </a:solidFill>
              </a:defRPr>
            </a:pPr>
            <a:r>
              <a:rPr sz="2000" dirty="0"/>
              <a:t>Response options should match the question and cover reasonable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8192" y="4294066"/>
            <a:ext cx="10378440" cy="713232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345C"/>
                </a:solidFill>
              </a:defRPr>
            </a:pPr>
            <a:r>
              <a:rPr sz="2000"/>
              <a:t>Good measurement is more important than clever wording.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Bad question → better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89804" cy="141732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BAD: “How amazing was this ad?”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t>BETTER: “How favorable is your overall evaluation of this ad?” 1 = Very unfavorable → 7 = Very favorable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25880"/>
            <a:ext cx="5289804" cy="1417320"/>
          </a:xfrm>
          <a:prstGeom prst="roundRect">
            <a:avLst/>
          </a:prstGeom>
          <a:solidFill>
            <a:srgbClr val="FCEEF4"/>
          </a:solidFill>
          <a:ln>
            <a:solidFill>
              <a:srgbClr val="D4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BAD: “How trustworthy and likable is this influencer?”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t>BETTER: Ask trust and likability as separate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289804" cy="1417320"/>
          </a:xfrm>
          <a:prstGeom prst="roundRect">
            <a:avLst/>
          </a:prstGeom>
          <a:solidFill>
            <a:srgbClr val="ECF8F1"/>
          </a:solidFill>
          <a:ln>
            <a:solidFill>
              <a:srgbClr val="28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BAD: “Do you use TikTok a lot?”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t>BETTER: “On a typical day, about how many minutes do you spend on TikTok?”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926080"/>
            <a:ext cx="5289804" cy="1417320"/>
          </a:xfrm>
          <a:prstGeom prst="roundRect">
            <a:avLst/>
          </a:prstGeom>
          <a:solidFill>
            <a:srgbClr val="FFF7DE"/>
          </a:solidFill>
          <a:ln>
            <a:solidFill>
              <a:srgbClr val="D2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</a:defRPr>
            </a:pPr>
            <a:r>
              <a:t>BAD: “Don’t you agree the CEO gave a sincere apology?”</a:t>
            </a:r>
          </a:p>
          <a:p>
            <a:pPr>
              <a:spcBef>
                <a:spcPts val="500"/>
              </a:spcBef>
              <a:defRPr sz="1450">
                <a:solidFill>
                  <a:srgbClr val="232B35"/>
                </a:solidFill>
              </a:defRPr>
            </a:pPr>
            <a:r>
              <a:t>BETTER: “The CEO’s apology seemed sincere.” Strongly disagree → Strongly agree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5775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rPr lang="en-US" dirty="0"/>
              <a:t>A</a:t>
            </a:r>
            <a:r>
              <a:rPr dirty="0"/>
              <a:t>ctivity: build a study from this post</a:t>
            </a:r>
          </a:p>
        </p:txBody>
      </p:sp>
      <p:pic>
        <p:nvPicPr>
          <p:cNvPr id="6" name="Picture 5" descr="instagram_influencer_pos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5012"/>
            <a:ext cx="480060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79008" y="1571556"/>
            <a:ext cx="6347250" cy="27084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50">
                <a:solidFill>
                  <a:srgbClr val="232B35"/>
                </a:solidFill>
              </a:defRPr>
            </a:pPr>
            <a:r>
              <a:rPr sz="2000" dirty="0"/>
              <a:t>1. Write ONE research question about this post.</a:t>
            </a:r>
          </a:p>
          <a:p>
            <a:pPr>
              <a:spcAft>
                <a:spcPts val="1200"/>
              </a:spcAft>
              <a:defRPr sz="1750">
                <a:solidFill>
                  <a:srgbClr val="232B35"/>
                </a:solidFill>
              </a:defRPr>
            </a:pPr>
            <a:r>
              <a:rPr sz="2000" dirty="0"/>
              <a:t>2. Identify the variable(s) in your RQ.</a:t>
            </a:r>
          </a:p>
          <a:p>
            <a:pPr>
              <a:spcAft>
                <a:spcPts val="1200"/>
              </a:spcAft>
              <a:defRPr sz="1750">
                <a:solidFill>
                  <a:srgbClr val="232B35"/>
                </a:solidFill>
              </a:defRPr>
            </a:pPr>
            <a:r>
              <a:rPr sz="2000" dirty="0"/>
              <a:t>3. Classify each variable: nominal / ordinal / interval / ratio.</a:t>
            </a:r>
          </a:p>
          <a:p>
            <a:pPr>
              <a:spcAft>
                <a:spcPts val="1200"/>
              </a:spcAft>
              <a:defRPr sz="1750">
                <a:solidFill>
                  <a:srgbClr val="232B35"/>
                </a:solidFill>
              </a:defRPr>
            </a:pPr>
            <a:r>
              <a:rPr sz="2000" dirty="0"/>
              <a:t>4. Decide exactly how each variable will be measured.</a:t>
            </a:r>
          </a:p>
          <a:p>
            <a:pPr>
              <a:spcAft>
                <a:spcPts val="1200"/>
              </a:spcAft>
              <a:defRPr sz="1750">
                <a:solidFill>
                  <a:srgbClr val="232B35"/>
                </a:solidFill>
              </a:defRPr>
            </a:pPr>
            <a:r>
              <a:rPr sz="2000" dirty="0"/>
              <a:t>5. If appropriate, write a hypothesis.</a:t>
            </a:r>
          </a:p>
          <a:p>
            <a:pPr>
              <a:spcAft>
                <a:spcPts val="1200"/>
              </a:spcAft>
              <a:defRPr sz="1750">
                <a:solidFill>
                  <a:srgbClr val="232B35"/>
                </a:solidFill>
              </a:defRPr>
            </a:pPr>
            <a:r>
              <a:rPr sz="2000" dirty="0"/>
              <a:t>6. Write TWO survey questions that would collect the data.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1109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D7B"/>
                </a:solidFill>
              </a:defRPr>
            </a:pPr>
            <a:r>
              <a:t>JOUR 701 • Block 2 • Fundamental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The fundamental research-design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1676400" cy="242316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t>RQ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t>What do we want to know?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5080" y="1874519"/>
            <a:ext cx="1676400" cy="2423160"/>
          </a:xfrm>
          <a:prstGeom prst="roundRect">
            <a:avLst/>
          </a:prstGeom>
          <a:solidFill>
            <a:srgbClr val="FCEEF4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t>H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t>What do we expect?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40" y="1874519"/>
            <a:ext cx="1676400" cy="2423160"/>
          </a:xfrm>
          <a:prstGeom prst="roundRect">
            <a:avLst/>
          </a:prstGeom>
          <a:solidFill>
            <a:srgbClr val="ECF8F1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t>VARIABLES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t>What can vary?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9" y="1874519"/>
            <a:ext cx="1676400" cy="2423160"/>
          </a:xfrm>
          <a:prstGeom prst="roundRect">
            <a:avLst/>
          </a:prstGeom>
          <a:solidFill>
            <a:srgbClr val="FFF7DE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rPr dirty="0"/>
              <a:t>MEASUREMENT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rPr dirty="0"/>
              <a:t>How does each become data?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5759" y="1874519"/>
            <a:ext cx="1676400" cy="2423160"/>
          </a:xfrm>
          <a:prstGeom prst="roundRect">
            <a:avLst/>
          </a:prstGeom>
          <a:solidFill>
            <a:srgbClr val="ECF6FC"/>
          </a:solidFill>
          <a:ln>
            <a:solidFill>
              <a:srgbClr val="32A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06FCD"/>
                </a:solidFill>
              </a:defRPr>
            </a:pPr>
            <a:r>
              <a:rPr dirty="0"/>
              <a:t>SURVEY</a:t>
            </a:r>
          </a:p>
          <a:p>
            <a:pPr algn="ctr">
              <a:spcBef>
                <a:spcPts val="800"/>
              </a:spcBef>
              <a:defRPr sz="1450">
                <a:solidFill>
                  <a:srgbClr val="232B35"/>
                </a:solidFill>
              </a:defRPr>
            </a:pPr>
            <a:r>
              <a:rPr dirty="0"/>
              <a:t>How can we collect the values?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3198</Words>
  <Application>Microsoft Macintosh PowerPoint</Application>
  <PresentationFormat>Widescreen</PresentationFormat>
  <Paragraphs>378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Chansiri, Karikarn</cp:lastModifiedBy>
  <cp:revision>12</cp:revision>
  <dcterms:created xsi:type="dcterms:W3CDTF">2013-01-27T09:14:16Z</dcterms:created>
  <dcterms:modified xsi:type="dcterms:W3CDTF">2026-09-22T01:14:55Z</dcterms:modified>
  <cp:category/>
</cp:coreProperties>
</file>